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Inter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793790" y="3020854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452068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452068"/>
                </a:solidFill>
                <a:latin typeface="Inter"/>
                <a:ea typeface="Inter"/>
                <a:cs typeface="Inter"/>
                <a:sym typeface="Inter"/>
              </a:rPr>
              <a:t>HRA Rates 2026</a:t>
            </a:r>
            <a:endParaRPr b="0" i="0" sz="3900" u="none" cap="none" strike="noStrike"/>
          </a:p>
        </p:txBody>
      </p:sp>
      <p:sp>
        <p:nvSpPr>
          <p:cNvPr id="33" name="Google Shape;33;p8"/>
          <p:cNvSpPr/>
          <p:nvPr/>
        </p:nvSpPr>
        <p:spPr>
          <a:xfrm>
            <a:off x="793790" y="3938588"/>
            <a:ext cx="7556421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A comprehensive snapshot of commission structures across major carriers for the 2024-2025 enrollment period. This guide provides insurance agents with instant access to commission rates for HRA, MAPD, MA, DSNP, and CSNP plans, plus integration status with SunFire platform.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793790" y="2007037"/>
            <a:ext cx="2398990" cy="373142"/>
          </a:xfrm>
          <a:prstGeom prst="roundRect">
            <a:avLst>
              <a:gd fmla="val 17872" name="adj"/>
            </a:avLst>
          </a:prstGeom>
          <a:solidFill>
            <a:srgbClr val="E6D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852" y="2114193"/>
            <a:ext cx="158710" cy="15871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/>
          <p:nvPr/>
        </p:nvSpPr>
        <p:spPr>
          <a:xfrm>
            <a:off x="1150858" y="2066568"/>
            <a:ext cx="1922859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COMMISSION OVERVIEW</a:t>
            </a:r>
            <a:endParaRPr b="0" i="0" sz="12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793790" y="2459474"/>
            <a:ext cx="11745992" cy="496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452068"/>
              </a:buClr>
              <a:buSzPts val="3100"/>
              <a:buFont typeface="Inter"/>
              <a:buNone/>
            </a:pPr>
            <a:r>
              <a:rPr b="1" i="0" lang="en-US" sz="3100" u="none" cap="none" strike="noStrike">
                <a:solidFill>
                  <a:srgbClr val="452068"/>
                </a:solidFill>
                <a:latin typeface="Inter"/>
                <a:ea typeface="Inter"/>
                <a:cs typeface="Inter"/>
                <a:sym typeface="Inter"/>
              </a:rPr>
              <a:t>Understanding Commission Structures Across Product Lines</a:t>
            </a:r>
            <a:endParaRPr b="0" i="0" sz="3100" u="none" cap="none" strike="noStrike"/>
          </a:p>
        </p:txBody>
      </p:sp>
      <p:sp>
        <p:nvSpPr>
          <p:cNvPr id="43" name="Google Shape;43;p9"/>
          <p:cNvSpPr/>
          <p:nvPr/>
        </p:nvSpPr>
        <p:spPr>
          <a:xfrm>
            <a:off x="793790" y="3451622"/>
            <a:ext cx="2837140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52068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452068"/>
                </a:solidFill>
                <a:latin typeface="Inter"/>
                <a:ea typeface="Inter"/>
                <a:cs typeface="Inter"/>
                <a:sym typeface="Inter"/>
              </a:rPr>
              <a:t>Product Types Covered</a:t>
            </a:r>
            <a:endParaRPr b="0" i="0" sz="1950" u="none" cap="none" strike="noStrike"/>
          </a:p>
        </p:txBody>
      </p:sp>
      <p:sp>
        <p:nvSpPr>
          <p:cNvPr id="44" name="Google Shape;44;p9"/>
          <p:cNvSpPr/>
          <p:nvPr/>
        </p:nvSpPr>
        <p:spPr>
          <a:xfrm>
            <a:off x="793790" y="3960138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HRA</a:t>
            </a: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 - Health Reimbursement Arrangement plans</a:t>
            </a:r>
            <a:endParaRPr b="0" i="0" sz="1550" u="none" cap="none" strike="noStrike"/>
          </a:p>
        </p:txBody>
      </p:sp>
      <p:sp>
        <p:nvSpPr>
          <p:cNvPr id="45" name="Google Shape;45;p9"/>
          <p:cNvSpPr/>
          <p:nvPr/>
        </p:nvSpPr>
        <p:spPr>
          <a:xfrm>
            <a:off x="793790" y="4347091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MAPD</a:t>
            </a: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 - Medicare Advantage Prescription Drug plans</a:t>
            </a:r>
            <a:endParaRPr b="0" i="0" sz="1550" u="none" cap="none" strike="noStrike"/>
          </a:p>
        </p:txBody>
      </p:sp>
      <p:sp>
        <p:nvSpPr>
          <p:cNvPr id="46" name="Google Shape;46;p9"/>
          <p:cNvSpPr/>
          <p:nvPr/>
        </p:nvSpPr>
        <p:spPr>
          <a:xfrm>
            <a:off x="793790" y="4734044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MA</a:t>
            </a: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 - Medicare Advantage plans</a:t>
            </a:r>
            <a:endParaRPr b="0" i="0" sz="1550" u="none" cap="none" strike="noStrike"/>
          </a:p>
        </p:txBody>
      </p:sp>
      <p:sp>
        <p:nvSpPr>
          <p:cNvPr id="47" name="Google Shape;47;p9"/>
          <p:cNvSpPr/>
          <p:nvPr/>
        </p:nvSpPr>
        <p:spPr>
          <a:xfrm>
            <a:off x="793790" y="5120997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DSNP</a:t>
            </a: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 - Dual Special Needs Plans</a:t>
            </a:r>
            <a:endParaRPr b="0" i="0" sz="1550" u="none" cap="none" strike="noStrike"/>
          </a:p>
        </p:txBody>
      </p:sp>
      <p:sp>
        <p:nvSpPr>
          <p:cNvPr id="48" name="Google Shape;48;p9"/>
          <p:cNvSpPr/>
          <p:nvPr/>
        </p:nvSpPr>
        <p:spPr>
          <a:xfrm>
            <a:off x="793790" y="5507950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CSNP</a:t>
            </a: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 - Chronic Special Needs Plans</a:t>
            </a:r>
            <a:endParaRPr b="0" i="0" sz="1550" u="none" cap="none" strike="noStrike"/>
          </a:p>
        </p:txBody>
      </p:sp>
      <p:sp>
        <p:nvSpPr>
          <p:cNvPr id="49" name="Google Shape;49;p9"/>
          <p:cNvSpPr/>
          <p:nvPr/>
        </p:nvSpPr>
        <p:spPr>
          <a:xfrm>
            <a:off x="7564874" y="345162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52068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452068"/>
                </a:solidFill>
                <a:latin typeface="Inter"/>
                <a:ea typeface="Inter"/>
                <a:cs typeface="Inter"/>
                <a:sym typeface="Inter"/>
              </a:rPr>
              <a:t>Key Features</a:t>
            </a:r>
            <a:endParaRPr b="0" i="0" sz="1950" u="none" cap="none" strike="noStrike"/>
          </a:p>
        </p:txBody>
      </p:sp>
      <p:sp>
        <p:nvSpPr>
          <p:cNvPr id="50" name="Google Shape;50;p9"/>
          <p:cNvSpPr/>
          <p:nvPr/>
        </p:nvSpPr>
        <p:spPr>
          <a:xfrm>
            <a:off x="7564874" y="3960138"/>
            <a:ext cx="6279356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Commission rates vary significantly by carrier and product type. Special Needs Plans (DSNP/CSNP) typically offer higher commission rates to reflect the specialized care coordination required.</a:t>
            </a:r>
            <a:endParaRPr b="0" i="0" sz="1550" u="none" cap="none" strike="noStrike"/>
          </a:p>
        </p:txBody>
      </p:sp>
      <p:sp>
        <p:nvSpPr>
          <p:cNvPr id="51" name="Google Shape;51;p9"/>
          <p:cNvSpPr/>
          <p:nvPr/>
        </p:nvSpPr>
        <p:spPr>
          <a:xfrm>
            <a:off x="7564874" y="5408890"/>
            <a:ext cx="6279356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SunFire integration streamlines enrollment and reduces administrative burden for participating carriers.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/>
          <p:nvPr/>
        </p:nvSpPr>
        <p:spPr>
          <a:xfrm>
            <a:off x="2668667" y="353497"/>
            <a:ext cx="4643318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2068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452068"/>
                </a:solidFill>
                <a:latin typeface="Inter"/>
                <a:ea typeface="Inter"/>
                <a:cs typeface="Inter"/>
                <a:sym typeface="Inter"/>
              </a:rPr>
              <a:t>Complete Carrier Commission Matrix</a:t>
            </a:r>
            <a:endParaRPr b="0" i="0" sz="2000" u="none" cap="none" strike="noStrike"/>
          </a:p>
        </p:txBody>
      </p:sp>
      <p:sp>
        <p:nvSpPr>
          <p:cNvPr id="58" name="Google Shape;58;p10"/>
          <p:cNvSpPr/>
          <p:nvPr/>
        </p:nvSpPr>
        <p:spPr>
          <a:xfrm>
            <a:off x="2668667" y="932021"/>
            <a:ext cx="929306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This comprehensive table provides all commission details at a glance. Rates shown are per application and reflect current contract terms. Carriers marked "YES" under HRA offer Health Reimbursement Arrangement options within their Medicare Advantage plans.</a:t>
            </a:r>
            <a:endParaRPr b="0" i="0" sz="1000" u="none" cap="none" strike="noStrike"/>
          </a:p>
        </p:txBody>
      </p:sp>
      <p:sp>
        <p:nvSpPr>
          <p:cNvPr id="59" name="Google Shape;59;p10"/>
          <p:cNvSpPr/>
          <p:nvPr/>
        </p:nvSpPr>
        <p:spPr>
          <a:xfrm>
            <a:off x="2668667" y="1488043"/>
            <a:ext cx="9293066" cy="6391037"/>
          </a:xfrm>
          <a:prstGeom prst="roundRect">
            <a:avLst>
              <a:gd fmla="val 84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>
            <a:off x="2676287" y="1495663"/>
            <a:ext cx="9277826" cy="3750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/>
          <p:nvPr/>
        </p:nvSpPr>
        <p:spPr>
          <a:xfrm>
            <a:off x="2805232" y="1580317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Carrier</a:t>
            </a:r>
            <a:endParaRPr b="0" i="0" sz="1000" u="none" cap="none" strike="noStrike"/>
          </a:p>
        </p:txBody>
      </p:sp>
      <p:sp>
        <p:nvSpPr>
          <p:cNvPr id="62" name="Google Shape;62;p10"/>
          <p:cNvSpPr/>
          <p:nvPr/>
        </p:nvSpPr>
        <p:spPr>
          <a:xfrm>
            <a:off x="4797266" y="158031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HRA</a:t>
            </a:r>
            <a:endParaRPr b="0" i="0" sz="1000" u="none" cap="none" strike="noStrike"/>
          </a:p>
        </p:txBody>
      </p:sp>
      <p:sp>
        <p:nvSpPr>
          <p:cNvPr id="63" name="Google Shape;63;p10"/>
          <p:cNvSpPr/>
          <p:nvPr/>
        </p:nvSpPr>
        <p:spPr>
          <a:xfrm>
            <a:off x="5857637" y="158031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MAPD</a:t>
            </a:r>
            <a:endParaRPr b="0" i="0" sz="1000" u="none" cap="none" strike="noStrike"/>
          </a:p>
        </p:txBody>
      </p:sp>
      <p:sp>
        <p:nvSpPr>
          <p:cNvPr id="64" name="Google Shape;64;p10"/>
          <p:cNvSpPr/>
          <p:nvPr/>
        </p:nvSpPr>
        <p:spPr>
          <a:xfrm>
            <a:off x="6918008" y="158031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MA</a:t>
            </a:r>
            <a:endParaRPr b="0" i="0" sz="1000" u="none" cap="none" strike="noStrike"/>
          </a:p>
        </p:txBody>
      </p:sp>
      <p:sp>
        <p:nvSpPr>
          <p:cNvPr id="65" name="Google Shape;65;p10"/>
          <p:cNvSpPr/>
          <p:nvPr/>
        </p:nvSpPr>
        <p:spPr>
          <a:xfrm>
            <a:off x="7978378" y="158031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DSNP</a:t>
            </a:r>
            <a:endParaRPr b="0" i="0" sz="1000" u="none" cap="none" strike="noStrike"/>
          </a:p>
        </p:txBody>
      </p:sp>
      <p:sp>
        <p:nvSpPr>
          <p:cNvPr id="66" name="Google Shape;66;p10"/>
          <p:cNvSpPr/>
          <p:nvPr/>
        </p:nvSpPr>
        <p:spPr>
          <a:xfrm>
            <a:off x="9038749" y="158031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CSNP</a:t>
            </a:r>
            <a:endParaRPr b="0" i="0" sz="1000" u="none" cap="none" strike="noStrike"/>
          </a:p>
        </p:txBody>
      </p:sp>
      <p:sp>
        <p:nvSpPr>
          <p:cNvPr id="67" name="Google Shape;67;p10"/>
          <p:cNvSpPr/>
          <p:nvPr/>
        </p:nvSpPr>
        <p:spPr>
          <a:xfrm>
            <a:off x="10099119" y="1580317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SunFire Status</a:t>
            </a:r>
            <a:endParaRPr b="0" i="0" sz="1000" u="none" cap="none" strike="noStrike"/>
          </a:p>
        </p:txBody>
      </p:sp>
      <p:sp>
        <p:nvSpPr>
          <p:cNvPr id="68" name="Google Shape;68;p10"/>
          <p:cNvSpPr/>
          <p:nvPr/>
        </p:nvSpPr>
        <p:spPr>
          <a:xfrm>
            <a:off x="2676287" y="1870710"/>
            <a:ext cx="9277826" cy="3750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2805232" y="1955363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Aetna</a:t>
            </a:r>
            <a:endParaRPr b="0" i="0" sz="1000" u="none" cap="none" strike="noStrike"/>
          </a:p>
        </p:txBody>
      </p:sp>
      <p:sp>
        <p:nvSpPr>
          <p:cNvPr id="70" name="Google Shape;70;p10"/>
          <p:cNvSpPr/>
          <p:nvPr/>
        </p:nvSpPr>
        <p:spPr>
          <a:xfrm>
            <a:off x="4797266" y="195536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71" name="Google Shape;71;p10"/>
          <p:cNvSpPr/>
          <p:nvPr/>
        </p:nvSpPr>
        <p:spPr>
          <a:xfrm>
            <a:off x="5857637" y="195536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72" name="Google Shape;72;p10"/>
          <p:cNvSpPr/>
          <p:nvPr/>
        </p:nvSpPr>
        <p:spPr>
          <a:xfrm>
            <a:off x="6918008" y="195536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73" name="Google Shape;73;p10"/>
          <p:cNvSpPr/>
          <p:nvPr/>
        </p:nvSpPr>
        <p:spPr>
          <a:xfrm>
            <a:off x="7978378" y="195536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$55</a:t>
            </a:r>
            <a:endParaRPr b="0" i="0" sz="1000" u="none" cap="none" strike="noStrike"/>
          </a:p>
        </p:txBody>
      </p:sp>
      <p:sp>
        <p:nvSpPr>
          <p:cNvPr id="74" name="Google Shape;74;p10"/>
          <p:cNvSpPr/>
          <p:nvPr/>
        </p:nvSpPr>
        <p:spPr>
          <a:xfrm>
            <a:off x="9038749" y="195536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$55</a:t>
            </a:r>
            <a:endParaRPr b="0" i="0" sz="1000" u="none" cap="none" strike="noStrike"/>
          </a:p>
        </p:txBody>
      </p:sp>
      <p:sp>
        <p:nvSpPr>
          <p:cNvPr id="75" name="Google Shape;75;p10"/>
          <p:cNvSpPr/>
          <p:nvPr/>
        </p:nvSpPr>
        <p:spPr>
          <a:xfrm>
            <a:off x="10099119" y="1955363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Yes, with ThinkAgent link</a:t>
            </a:r>
            <a:endParaRPr b="0" i="0" sz="1000" u="none" cap="none" strike="noStrike"/>
          </a:p>
        </p:txBody>
      </p:sp>
      <p:sp>
        <p:nvSpPr>
          <p:cNvPr id="76" name="Google Shape;76;p10"/>
          <p:cNvSpPr/>
          <p:nvPr/>
        </p:nvSpPr>
        <p:spPr>
          <a:xfrm>
            <a:off x="2676287" y="2245757"/>
            <a:ext cx="9277826" cy="3750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2805232" y="2330410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Clover</a:t>
            </a:r>
            <a:endParaRPr b="0" i="0" sz="1000" u="none" cap="none" strike="noStrike"/>
          </a:p>
        </p:txBody>
      </p:sp>
      <p:sp>
        <p:nvSpPr>
          <p:cNvPr id="78" name="Google Shape;78;p10"/>
          <p:cNvSpPr/>
          <p:nvPr/>
        </p:nvSpPr>
        <p:spPr>
          <a:xfrm>
            <a:off x="4797266" y="233041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79" name="Google Shape;79;p10"/>
          <p:cNvSpPr/>
          <p:nvPr/>
        </p:nvSpPr>
        <p:spPr>
          <a:xfrm>
            <a:off x="5857637" y="233041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TBD</a:t>
            </a:r>
            <a:endParaRPr b="0" i="0" sz="1000" u="none" cap="none" strike="noStrike"/>
          </a:p>
        </p:txBody>
      </p:sp>
      <p:sp>
        <p:nvSpPr>
          <p:cNvPr id="80" name="Google Shape;80;p10"/>
          <p:cNvSpPr/>
          <p:nvPr/>
        </p:nvSpPr>
        <p:spPr>
          <a:xfrm>
            <a:off x="6918008" y="233041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TBD</a:t>
            </a:r>
            <a:endParaRPr b="0" i="0" sz="1000" u="none" cap="none" strike="noStrike"/>
          </a:p>
        </p:txBody>
      </p:sp>
      <p:sp>
        <p:nvSpPr>
          <p:cNvPr id="81" name="Google Shape;81;p10"/>
          <p:cNvSpPr/>
          <p:nvPr/>
        </p:nvSpPr>
        <p:spPr>
          <a:xfrm>
            <a:off x="7978378" y="233041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TBD</a:t>
            </a:r>
            <a:endParaRPr b="0" i="0" sz="1000" u="none" cap="none" strike="noStrike"/>
          </a:p>
        </p:txBody>
      </p:sp>
      <p:sp>
        <p:nvSpPr>
          <p:cNvPr id="82" name="Google Shape;82;p10"/>
          <p:cNvSpPr/>
          <p:nvPr/>
        </p:nvSpPr>
        <p:spPr>
          <a:xfrm>
            <a:off x="9038749" y="233041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TBD</a:t>
            </a:r>
            <a:endParaRPr b="0" i="0" sz="1000" u="none" cap="none" strike="noStrike"/>
          </a:p>
        </p:txBody>
      </p:sp>
      <p:sp>
        <p:nvSpPr>
          <p:cNvPr id="83" name="Google Shape;83;p10"/>
          <p:cNvSpPr/>
          <p:nvPr/>
        </p:nvSpPr>
        <p:spPr>
          <a:xfrm>
            <a:off x="10099119" y="2330410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000" u="none" cap="none" strike="noStrike"/>
          </a:p>
        </p:txBody>
      </p:sp>
      <p:sp>
        <p:nvSpPr>
          <p:cNvPr id="84" name="Google Shape;84;p10"/>
          <p:cNvSpPr/>
          <p:nvPr/>
        </p:nvSpPr>
        <p:spPr>
          <a:xfrm>
            <a:off x="2676287" y="2620804"/>
            <a:ext cx="9277826" cy="3750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2805232" y="2705457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Devoted</a:t>
            </a:r>
            <a:endParaRPr b="0" i="0" sz="1000" u="none" cap="none" strike="noStrike"/>
          </a:p>
        </p:txBody>
      </p:sp>
      <p:sp>
        <p:nvSpPr>
          <p:cNvPr id="86" name="Google Shape;86;p10"/>
          <p:cNvSpPr/>
          <p:nvPr/>
        </p:nvSpPr>
        <p:spPr>
          <a:xfrm>
            <a:off x="4797266" y="270545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87" name="Google Shape;87;p10"/>
          <p:cNvSpPr/>
          <p:nvPr/>
        </p:nvSpPr>
        <p:spPr>
          <a:xfrm>
            <a:off x="5857637" y="270545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88" name="Google Shape;88;p10"/>
          <p:cNvSpPr/>
          <p:nvPr/>
        </p:nvSpPr>
        <p:spPr>
          <a:xfrm>
            <a:off x="6918008" y="270545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89" name="Google Shape;89;p10"/>
          <p:cNvSpPr/>
          <p:nvPr/>
        </p:nvSpPr>
        <p:spPr>
          <a:xfrm>
            <a:off x="7978378" y="270545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90" name="Google Shape;90;p10"/>
          <p:cNvSpPr/>
          <p:nvPr/>
        </p:nvSpPr>
        <p:spPr>
          <a:xfrm>
            <a:off x="9038749" y="270545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91" name="Google Shape;91;p10"/>
          <p:cNvSpPr/>
          <p:nvPr/>
        </p:nvSpPr>
        <p:spPr>
          <a:xfrm>
            <a:off x="10099119" y="2705457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92" name="Google Shape;92;p10"/>
          <p:cNvSpPr/>
          <p:nvPr/>
        </p:nvSpPr>
        <p:spPr>
          <a:xfrm>
            <a:off x="2676287" y="2995851"/>
            <a:ext cx="9277826" cy="3750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/>
          <p:nvPr/>
        </p:nvSpPr>
        <p:spPr>
          <a:xfrm>
            <a:off x="2805232" y="3080504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Elevance</a:t>
            </a:r>
            <a:endParaRPr b="0" i="0" sz="1000" u="none" cap="none" strike="noStrike"/>
          </a:p>
        </p:txBody>
      </p:sp>
      <p:sp>
        <p:nvSpPr>
          <p:cNvPr id="94" name="Google Shape;94;p10"/>
          <p:cNvSpPr/>
          <p:nvPr/>
        </p:nvSpPr>
        <p:spPr>
          <a:xfrm>
            <a:off x="4797266" y="3080504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95" name="Google Shape;95;p10"/>
          <p:cNvSpPr/>
          <p:nvPr/>
        </p:nvSpPr>
        <p:spPr>
          <a:xfrm>
            <a:off x="5857637" y="3080504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96" name="Google Shape;96;p10"/>
          <p:cNvSpPr/>
          <p:nvPr/>
        </p:nvSpPr>
        <p:spPr>
          <a:xfrm>
            <a:off x="6918008" y="3080504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97" name="Google Shape;97;p10"/>
          <p:cNvSpPr/>
          <p:nvPr/>
        </p:nvSpPr>
        <p:spPr>
          <a:xfrm>
            <a:off x="7978378" y="3080504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$125</a:t>
            </a:r>
            <a:endParaRPr b="0" i="0" sz="1000" u="none" cap="none" strike="noStrike"/>
          </a:p>
        </p:txBody>
      </p:sp>
      <p:sp>
        <p:nvSpPr>
          <p:cNvPr id="98" name="Google Shape;98;p10"/>
          <p:cNvSpPr/>
          <p:nvPr/>
        </p:nvSpPr>
        <p:spPr>
          <a:xfrm>
            <a:off x="9038749" y="3080504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$125</a:t>
            </a:r>
            <a:endParaRPr b="0" i="0" sz="1000" u="none" cap="none" strike="noStrike"/>
          </a:p>
        </p:txBody>
      </p:sp>
      <p:sp>
        <p:nvSpPr>
          <p:cNvPr id="99" name="Google Shape;99;p10"/>
          <p:cNvSpPr/>
          <p:nvPr/>
        </p:nvSpPr>
        <p:spPr>
          <a:xfrm>
            <a:off x="10099119" y="3080504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00" name="Google Shape;100;p10"/>
          <p:cNvSpPr/>
          <p:nvPr/>
        </p:nvSpPr>
        <p:spPr>
          <a:xfrm>
            <a:off x="2676287" y="3370897"/>
            <a:ext cx="9277826" cy="3750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2805232" y="3455551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Florida Blue</a:t>
            </a:r>
            <a:endParaRPr b="0" i="0" sz="1000" u="none" cap="none" strike="noStrike"/>
          </a:p>
        </p:txBody>
      </p:sp>
      <p:sp>
        <p:nvSpPr>
          <p:cNvPr id="102" name="Google Shape;102;p10"/>
          <p:cNvSpPr/>
          <p:nvPr/>
        </p:nvSpPr>
        <p:spPr>
          <a:xfrm>
            <a:off x="4797266" y="3455551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03" name="Google Shape;103;p10"/>
          <p:cNvSpPr/>
          <p:nvPr/>
        </p:nvSpPr>
        <p:spPr>
          <a:xfrm>
            <a:off x="5857637" y="3455551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04" name="Google Shape;104;p10"/>
          <p:cNvSpPr/>
          <p:nvPr/>
        </p:nvSpPr>
        <p:spPr>
          <a:xfrm>
            <a:off x="6918008" y="3455551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05" name="Google Shape;105;p10"/>
          <p:cNvSpPr/>
          <p:nvPr/>
        </p:nvSpPr>
        <p:spPr>
          <a:xfrm>
            <a:off x="7978378" y="3455551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06" name="Google Shape;106;p10"/>
          <p:cNvSpPr/>
          <p:nvPr/>
        </p:nvSpPr>
        <p:spPr>
          <a:xfrm>
            <a:off x="9038749" y="3455551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07" name="Google Shape;107;p10"/>
          <p:cNvSpPr/>
          <p:nvPr/>
        </p:nvSpPr>
        <p:spPr>
          <a:xfrm>
            <a:off x="10099119" y="3455551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000" u="none" cap="none" strike="noStrike"/>
          </a:p>
        </p:txBody>
      </p:sp>
      <p:sp>
        <p:nvSpPr>
          <p:cNvPr id="108" name="Google Shape;108;p10"/>
          <p:cNvSpPr/>
          <p:nvPr/>
        </p:nvSpPr>
        <p:spPr>
          <a:xfrm>
            <a:off x="2676287" y="3745944"/>
            <a:ext cx="9277826" cy="3750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2805232" y="3830598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Freedom</a:t>
            </a:r>
            <a:endParaRPr b="0" i="0" sz="1000" u="none" cap="none" strike="noStrike"/>
          </a:p>
        </p:txBody>
      </p:sp>
      <p:sp>
        <p:nvSpPr>
          <p:cNvPr id="110" name="Google Shape;110;p10"/>
          <p:cNvSpPr/>
          <p:nvPr/>
        </p:nvSpPr>
        <p:spPr>
          <a:xfrm>
            <a:off x="4797266" y="383059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11" name="Google Shape;111;p10"/>
          <p:cNvSpPr/>
          <p:nvPr/>
        </p:nvSpPr>
        <p:spPr>
          <a:xfrm>
            <a:off x="5857637" y="383059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12" name="Google Shape;112;p10"/>
          <p:cNvSpPr/>
          <p:nvPr/>
        </p:nvSpPr>
        <p:spPr>
          <a:xfrm>
            <a:off x="6918008" y="383059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13" name="Google Shape;113;p10"/>
          <p:cNvSpPr/>
          <p:nvPr/>
        </p:nvSpPr>
        <p:spPr>
          <a:xfrm>
            <a:off x="7978378" y="383059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$125</a:t>
            </a:r>
            <a:endParaRPr b="0" i="0" sz="1000" u="none" cap="none" strike="noStrike"/>
          </a:p>
        </p:txBody>
      </p:sp>
      <p:sp>
        <p:nvSpPr>
          <p:cNvPr id="114" name="Google Shape;114;p10"/>
          <p:cNvSpPr/>
          <p:nvPr/>
        </p:nvSpPr>
        <p:spPr>
          <a:xfrm>
            <a:off x="9038749" y="383059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$125</a:t>
            </a:r>
            <a:endParaRPr b="0" i="0" sz="1000" u="none" cap="none" strike="noStrike"/>
          </a:p>
        </p:txBody>
      </p:sp>
      <p:sp>
        <p:nvSpPr>
          <p:cNvPr id="115" name="Google Shape;115;p10"/>
          <p:cNvSpPr/>
          <p:nvPr/>
        </p:nvSpPr>
        <p:spPr>
          <a:xfrm>
            <a:off x="10099119" y="3830598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16" name="Google Shape;116;p10"/>
          <p:cNvSpPr/>
          <p:nvPr/>
        </p:nvSpPr>
        <p:spPr>
          <a:xfrm>
            <a:off x="2676287" y="4120991"/>
            <a:ext cx="9277826" cy="3750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2805232" y="4205645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HCSC</a:t>
            </a:r>
            <a:endParaRPr b="0" i="0" sz="1000" u="none" cap="none" strike="noStrike"/>
          </a:p>
        </p:txBody>
      </p:sp>
      <p:sp>
        <p:nvSpPr>
          <p:cNvPr id="118" name="Google Shape;118;p10"/>
          <p:cNvSpPr/>
          <p:nvPr/>
        </p:nvSpPr>
        <p:spPr>
          <a:xfrm>
            <a:off x="4797266" y="420564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000" u="none" cap="none" strike="noStrike"/>
          </a:p>
        </p:txBody>
      </p:sp>
      <p:sp>
        <p:nvSpPr>
          <p:cNvPr id="119" name="Google Shape;119;p10"/>
          <p:cNvSpPr/>
          <p:nvPr/>
        </p:nvSpPr>
        <p:spPr>
          <a:xfrm>
            <a:off x="5857637" y="420564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000" u="none" cap="none" strike="noStrike"/>
          </a:p>
        </p:txBody>
      </p:sp>
      <p:sp>
        <p:nvSpPr>
          <p:cNvPr id="120" name="Google Shape;120;p10"/>
          <p:cNvSpPr/>
          <p:nvPr/>
        </p:nvSpPr>
        <p:spPr>
          <a:xfrm>
            <a:off x="6918008" y="420564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000" u="none" cap="none" strike="noStrike"/>
          </a:p>
        </p:txBody>
      </p:sp>
      <p:sp>
        <p:nvSpPr>
          <p:cNvPr id="121" name="Google Shape;121;p10"/>
          <p:cNvSpPr/>
          <p:nvPr/>
        </p:nvSpPr>
        <p:spPr>
          <a:xfrm>
            <a:off x="7978378" y="420564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000" u="none" cap="none" strike="noStrike"/>
          </a:p>
        </p:txBody>
      </p:sp>
      <p:sp>
        <p:nvSpPr>
          <p:cNvPr id="122" name="Google Shape;122;p10"/>
          <p:cNvSpPr/>
          <p:nvPr/>
        </p:nvSpPr>
        <p:spPr>
          <a:xfrm>
            <a:off x="9038749" y="420564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000" u="none" cap="none" strike="noStrike"/>
          </a:p>
        </p:txBody>
      </p:sp>
      <p:sp>
        <p:nvSpPr>
          <p:cNvPr id="123" name="Google Shape;123;p10"/>
          <p:cNvSpPr/>
          <p:nvPr/>
        </p:nvSpPr>
        <p:spPr>
          <a:xfrm>
            <a:off x="10099119" y="4205645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000" u="none" cap="none" strike="noStrike"/>
          </a:p>
        </p:txBody>
      </p:sp>
      <p:sp>
        <p:nvSpPr>
          <p:cNvPr id="124" name="Google Shape;124;p10"/>
          <p:cNvSpPr/>
          <p:nvPr/>
        </p:nvSpPr>
        <p:spPr>
          <a:xfrm>
            <a:off x="2676287" y="4496038"/>
            <a:ext cx="9277826" cy="3750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2805232" y="4580692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HealthSpring</a:t>
            </a:r>
            <a:endParaRPr b="0" i="0" sz="1000" u="none" cap="none" strike="noStrike"/>
          </a:p>
        </p:txBody>
      </p:sp>
      <p:sp>
        <p:nvSpPr>
          <p:cNvPr id="126" name="Google Shape;126;p10"/>
          <p:cNvSpPr/>
          <p:nvPr/>
        </p:nvSpPr>
        <p:spPr>
          <a:xfrm>
            <a:off x="4797266" y="458069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27" name="Google Shape;127;p10"/>
          <p:cNvSpPr/>
          <p:nvPr/>
        </p:nvSpPr>
        <p:spPr>
          <a:xfrm>
            <a:off x="5857637" y="458069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128" name="Google Shape;128;p10"/>
          <p:cNvSpPr/>
          <p:nvPr/>
        </p:nvSpPr>
        <p:spPr>
          <a:xfrm>
            <a:off x="6918008" y="458069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129" name="Google Shape;129;p10"/>
          <p:cNvSpPr/>
          <p:nvPr/>
        </p:nvSpPr>
        <p:spPr>
          <a:xfrm>
            <a:off x="7978378" y="458069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$100</a:t>
            </a:r>
            <a:endParaRPr b="0" i="0" sz="1000" u="none" cap="none" strike="noStrike"/>
          </a:p>
        </p:txBody>
      </p:sp>
      <p:sp>
        <p:nvSpPr>
          <p:cNvPr id="130" name="Google Shape;130;p10"/>
          <p:cNvSpPr/>
          <p:nvPr/>
        </p:nvSpPr>
        <p:spPr>
          <a:xfrm>
            <a:off x="9038749" y="458069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$100</a:t>
            </a:r>
            <a:endParaRPr b="0" i="0" sz="1000" u="none" cap="none" strike="noStrike"/>
          </a:p>
        </p:txBody>
      </p:sp>
      <p:sp>
        <p:nvSpPr>
          <p:cNvPr id="131" name="Google Shape;131;p10"/>
          <p:cNvSpPr/>
          <p:nvPr/>
        </p:nvSpPr>
        <p:spPr>
          <a:xfrm>
            <a:off x="10099119" y="4580692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32" name="Google Shape;132;p10"/>
          <p:cNvSpPr/>
          <p:nvPr/>
        </p:nvSpPr>
        <p:spPr>
          <a:xfrm>
            <a:off x="2676287" y="4871085"/>
            <a:ext cx="9277826" cy="3750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2805232" y="4955738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Humana MGA</a:t>
            </a:r>
            <a:endParaRPr b="0" i="0" sz="1000" u="none" cap="none" strike="noStrike"/>
          </a:p>
        </p:txBody>
      </p:sp>
      <p:sp>
        <p:nvSpPr>
          <p:cNvPr id="134" name="Google Shape;134;p10"/>
          <p:cNvSpPr/>
          <p:nvPr/>
        </p:nvSpPr>
        <p:spPr>
          <a:xfrm>
            <a:off x="4797266" y="495573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35" name="Google Shape;135;p10"/>
          <p:cNvSpPr/>
          <p:nvPr/>
        </p:nvSpPr>
        <p:spPr>
          <a:xfrm>
            <a:off x="5857637" y="495573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36" name="Google Shape;136;p10"/>
          <p:cNvSpPr/>
          <p:nvPr/>
        </p:nvSpPr>
        <p:spPr>
          <a:xfrm>
            <a:off x="6918008" y="495573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37" name="Google Shape;137;p10"/>
          <p:cNvSpPr/>
          <p:nvPr/>
        </p:nvSpPr>
        <p:spPr>
          <a:xfrm>
            <a:off x="7978378" y="495573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$35</a:t>
            </a:r>
            <a:endParaRPr b="0" i="0" sz="1000" u="none" cap="none" strike="noStrike"/>
          </a:p>
        </p:txBody>
      </p:sp>
      <p:sp>
        <p:nvSpPr>
          <p:cNvPr id="138" name="Google Shape;138;p10"/>
          <p:cNvSpPr/>
          <p:nvPr/>
        </p:nvSpPr>
        <p:spPr>
          <a:xfrm>
            <a:off x="9038749" y="4955738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$35</a:t>
            </a:r>
            <a:endParaRPr b="0" i="0" sz="1000" u="none" cap="none" strike="noStrike"/>
          </a:p>
        </p:txBody>
      </p:sp>
      <p:sp>
        <p:nvSpPr>
          <p:cNvPr id="139" name="Google Shape;139;p10"/>
          <p:cNvSpPr/>
          <p:nvPr/>
        </p:nvSpPr>
        <p:spPr>
          <a:xfrm>
            <a:off x="10099119" y="4955738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40" name="Google Shape;140;p10"/>
          <p:cNvSpPr/>
          <p:nvPr/>
        </p:nvSpPr>
        <p:spPr>
          <a:xfrm>
            <a:off x="2676287" y="5246132"/>
            <a:ext cx="9277826" cy="3750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2805232" y="5330785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Humana SA</a:t>
            </a:r>
            <a:endParaRPr b="0" i="0" sz="1000" u="none" cap="none" strike="noStrike"/>
          </a:p>
        </p:txBody>
      </p:sp>
      <p:sp>
        <p:nvSpPr>
          <p:cNvPr id="142" name="Google Shape;142;p10"/>
          <p:cNvSpPr/>
          <p:nvPr/>
        </p:nvSpPr>
        <p:spPr>
          <a:xfrm>
            <a:off x="4797266" y="533078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43" name="Google Shape;143;p10"/>
          <p:cNvSpPr/>
          <p:nvPr/>
        </p:nvSpPr>
        <p:spPr>
          <a:xfrm>
            <a:off x="5857637" y="533078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44" name="Google Shape;144;p10"/>
          <p:cNvSpPr/>
          <p:nvPr/>
        </p:nvSpPr>
        <p:spPr>
          <a:xfrm>
            <a:off x="6918008" y="533078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45" name="Google Shape;145;p10"/>
          <p:cNvSpPr/>
          <p:nvPr/>
        </p:nvSpPr>
        <p:spPr>
          <a:xfrm>
            <a:off x="7978378" y="533078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$35</a:t>
            </a:r>
            <a:endParaRPr b="0" i="0" sz="1000" u="none" cap="none" strike="noStrike"/>
          </a:p>
        </p:txBody>
      </p:sp>
      <p:sp>
        <p:nvSpPr>
          <p:cNvPr id="146" name="Google Shape;146;p10"/>
          <p:cNvSpPr/>
          <p:nvPr/>
        </p:nvSpPr>
        <p:spPr>
          <a:xfrm>
            <a:off x="9038749" y="5330785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$35</a:t>
            </a:r>
            <a:endParaRPr b="0" i="0" sz="1000" u="none" cap="none" strike="noStrike"/>
          </a:p>
        </p:txBody>
      </p:sp>
      <p:sp>
        <p:nvSpPr>
          <p:cNvPr id="147" name="Google Shape;147;p10"/>
          <p:cNvSpPr/>
          <p:nvPr/>
        </p:nvSpPr>
        <p:spPr>
          <a:xfrm>
            <a:off x="10099119" y="5330785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48" name="Google Shape;148;p10"/>
          <p:cNvSpPr/>
          <p:nvPr/>
        </p:nvSpPr>
        <p:spPr>
          <a:xfrm>
            <a:off x="2676287" y="5621179"/>
            <a:ext cx="9277826" cy="3750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2805232" y="5705832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Kaiser</a:t>
            </a:r>
            <a:endParaRPr b="0" i="0" sz="1000" u="none" cap="none" strike="noStrike"/>
          </a:p>
        </p:txBody>
      </p:sp>
      <p:sp>
        <p:nvSpPr>
          <p:cNvPr id="150" name="Google Shape;150;p10"/>
          <p:cNvSpPr/>
          <p:nvPr/>
        </p:nvSpPr>
        <p:spPr>
          <a:xfrm>
            <a:off x="4797266" y="570583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000" u="none" cap="none" strike="noStrike"/>
          </a:p>
        </p:txBody>
      </p:sp>
      <p:sp>
        <p:nvSpPr>
          <p:cNvPr id="151" name="Google Shape;151;p10"/>
          <p:cNvSpPr/>
          <p:nvPr/>
        </p:nvSpPr>
        <p:spPr>
          <a:xfrm>
            <a:off x="5857637" y="570583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000" u="none" cap="none" strike="noStrike"/>
          </a:p>
        </p:txBody>
      </p:sp>
      <p:sp>
        <p:nvSpPr>
          <p:cNvPr id="152" name="Google Shape;152;p10"/>
          <p:cNvSpPr/>
          <p:nvPr/>
        </p:nvSpPr>
        <p:spPr>
          <a:xfrm>
            <a:off x="6918008" y="570583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000" u="none" cap="none" strike="noStrike"/>
          </a:p>
        </p:txBody>
      </p:sp>
      <p:sp>
        <p:nvSpPr>
          <p:cNvPr id="153" name="Google Shape;153;p10"/>
          <p:cNvSpPr/>
          <p:nvPr/>
        </p:nvSpPr>
        <p:spPr>
          <a:xfrm>
            <a:off x="7978378" y="570583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000" u="none" cap="none" strike="noStrike"/>
          </a:p>
        </p:txBody>
      </p:sp>
      <p:sp>
        <p:nvSpPr>
          <p:cNvPr id="154" name="Google Shape;154;p10"/>
          <p:cNvSpPr/>
          <p:nvPr/>
        </p:nvSpPr>
        <p:spPr>
          <a:xfrm>
            <a:off x="9038749" y="5705832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000" u="none" cap="none" strike="noStrike"/>
          </a:p>
        </p:txBody>
      </p:sp>
      <p:sp>
        <p:nvSpPr>
          <p:cNvPr id="155" name="Google Shape;155;p10"/>
          <p:cNvSpPr/>
          <p:nvPr/>
        </p:nvSpPr>
        <p:spPr>
          <a:xfrm>
            <a:off x="10099119" y="5705832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N/A</a:t>
            </a:r>
            <a:endParaRPr b="0" i="0" sz="1000" u="none" cap="none" strike="noStrike"/>
          </a:p>
        </p:txBody>
      </p:sp>
      <p:sp>
        <p:nvSpPr>
          <p:cNvPr id="156" name="Google Shape;156;p10"/>
          <p:cNvSpPr/>
          <p:nvPr/>
        </p:nvSpPr>
        <p:spPr>
          <a:xfrm>
            <a:off x="2676287" y="5996226"/>
            <a:ext cx="9277826" cy="3750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2805232" y="6080879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Molina</a:t>
            </a:r>
            <a:endParaRPr b="0" i="0" sz="1000" u="none" cap="none" strike="noStrike"/>
          </a:p>
        </p:txBody>
      </p:sp>
      <p:sp>
        <p:nvSpPr>
          <p:cNvPr id="158" name="Google Shape;158;p10"/>
          <p:cNvSpPr/>
          <p:nvPr/>
        </p:nvSpPr>
        <p:spPr>
          <a:xfrm>
            <a:off x="4797266" y="6080879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59" name="Google Shape;159;p10"/>
          <p:cNvSpPr/>
          <p:nvPr/>
        </p:nvSpPr>
        <p:spPr>
          <a:xfrm>
            <a:off x="5857637" y="6080879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60" name="Google Shape;160;p10"/>
          <p:cNvSpPr/>
          <p:nvPr/>
        </p:nvSpPr>
        <p:spPr>
          <a:xfrm>
            <a:off x="6918008" y="6080879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61" name="Google Shape;161;p10"/>
          <p:cNvSpPr/>
          <p:nvPr/>
        </p:nvSpPr>
        <p:spPr>
          <a:xfrm>
            <a:off x="7978378" y="6080879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62" name="Google Shape;162;p10"/>
          <p:cNvSpPr/>
          <p:nvPr/>
        </p:nvSpPr>
        <p:spPr>
          <a:xfrm>
            <a:off x="9038749" y="6080879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63" name="Google Shape;163;p10"/>
          <p:cNvSpPr/>
          <p:nvPr/>
        </p:nvSpPr>
        <p:spPr>
          <a:xfrm>
            <a:off x="10099119" y="6080879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NO</a:t>
            </a:r>
            <a:endParaRPr b="0" i="0" sz="1000" u="none" cap="none" strike="noStrike"/>
          </a:p>
        </p:txBody>
      </p:sp>
      <p:sp>
        <p:nvSpPr>
          <p:cNvPr id="164" name="Google Shape;164;p10"/>
          <p:cNvSpPr/>
          <p:nvPr/>
        </p:nvSpPr>
        <p:spPr>
          <a:xfrm>
            <a:off x="2676287" y="6371273"/>
            <a:ext cx="9277826" cy="3750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2805232" y="6455926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Optimum</a:t>
            </a:r>
            <a:endParaRPr b="0" i="0" sz="1000" u="none" cap="none" strike="noStrike"/>
          </a:p>
        </p:txBody>
      </p:sp>
      <p:sp>
        <p:nvSpPr>
          <p:cNvPr id="166" name="Google Shape;166;p10"/>
          <p:cNvSpPr/>
          <p:nvPr/>
        </p:nvSpPr>
        <p:spPr>
          <a:xfrm>
            <a:off x="4797266" y="6455926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67" name="Google Shape;167;p10"/>
          <p:cNvSpPr/>
          <p:nvPr/>
        </p:nvSpPr>
        <p:spPr>
          <a:xfrm>
            <a:off x="5857637" y="6455926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68" name="Google Shape;168;p10"/>
          <p:cNvSpPr/>
          <p:nvPr/>
        </p:nvSpPr>
        <p:spPr>
          <a:xfrm>
            <a:off x="6918008" y="6455926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69" name="Google Shape;169;p10"/>
          <p:cNvSpPr/>
          <p:nvPr/>
        </p:nvSpPr>
        <p:spPr>
          <a:xfrm>
            <a:off x="7978378" y="6455926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$125</a:t>
            </a:r>
            <a:endParaRPr b="0" i="0" sz="1000" u="none" cap="none" strike="noStrike"/>
          </a:p>
        </p:txBody>
      </p:sp>
      <p:sp>
        <p:nvSpPr>
          <p:cNvPr id="170" name="Google Shape;170;p10"/>
          <p:cNvSpPr/>
          <p:nvPr/>
        </p:nvSpPr>
        <p:spPr>
          <a:xfrm>
            <a:off x="9038749" y="6455926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$125</a:t>
            </a:r>
            <a:endParaRPr b="0" i="0" sz="1000" u="none" cap="none" strike="noStrike"/>
          </a:p>
        </p:txBody>
      </p:sp>
      <p:sp>
        <p:nvSpPr>
          <p:cNvPr id="171" name="Google Shape;171;p10"/>
          <p:cNvSpPr/>
          <p:nvPr/>
        </p:nvSpPr>
        <p:spPr>
          <a:xfrm>
            <a:off x="10099119" y="6455926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72" name="Google Shape;172;p10"/>
          <p:cNvSpPr/>
          <p:nvPr/>
        </p:nvSpPr>
        <p:spPr>
          <a:xfrm>
            <a:off x="2676287" y="6746319"/>
            <a:ext cx="9277826" cy="3750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2805232" y="6830973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UnitedHealthcare</a:t>
            </a:r>
            <a:endParaRPr b="0" i="0" sz="1000" u="none" cap="none" strike="noStrike"/>
          </a:p>
        </p:txBody>
      </p:sp>
      <p:sp>
        <p:nvSpPr>
          <p:cNvPr id="174" name="Google Shape;174;p10"/>
          <p:cNvSpPr/>
          <p:nvPr/>
        </p:nvSpPr>
        <p:spPr>
          <a:xfrm>
            <a:off x="4797266" y="683097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75" name="Google Shape;175;p10"/>
          <p:cNvSpPr/>
          <p:nvPr/>
        </p:nvSpPr>
        <p:spPr>
          <a:xfrm>
            <a:off x="5857637" y="683097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76" name="Google Shape;176;p10"/>
          <p:cNvSpPr/>
          <p:nvPr/>
        </p:nvSpPr>
        <p:spPr>
          <a:xfrm>
            <a:off x="6918008" y="683097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77" name="Google Shape;177;p10"/>
          <p:cNvSpPr/>
          <p:nvPr/>
        </p:nvSpPr>
        <p:spPr>
          <a:xfrm>
            <a:off x="7978378" y="683097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178" name="Google Shape;178;p10"/>
          <p:cNvSpPr/>
          <p:nvPr/>
        </p:nvSpPr>
        <p:spPr>
          <a:xfrm>
            <a:off x="9038749" y="6830973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179" name="Google Shape;179;p10"/>
          <p:cNvSpPr/>
          <p:nvPr/>
        </p:nvSpPr>
        <p:spPr>
          <a:xfrm>
            <a:off x="10099119" y="6830973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80" name="Google Shape;180;p10"/>
          <p:cNvSpPr/>
          <p:nvPr/>
        </p:nvSpPr>
        <p:spPr>
          <a:xfrm>
            <a:off x="2676287" y="7121366"/>
            <a:ext cx="9277826" cy="37504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2805232" y="7206020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Wellcare</a:t>
            </a:r>
            <a:endParaRPr b="0" i="0" sz="1000" u="none" cap="none" strike="noStrike"/>
          </a:p>
        </p:txBody>
      </p:sp>
      <p:sp>
        <p:nvSpPr>
          <p:cNvPr id="182" name="Google Shape;182;p10"/>
          <p:cNvSpPr/>
          <p:nvPr/>
        </p:nvSpPr>
        <p:spPr>
          <a:xfrm>
            <a:off x="4797266" y="720602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83" name="Google Shape;183;p10"/>
          <p:cNvSpPr/>
          <p:nvPr/>
        </p:nvSpPr>
        <p:spPr>
          <a:xfrm>
            <a:off x="5857637" y="720602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84" name="Google Shape;184;p10"/>
          <p:cNvSpPr/>
          <p:nvPr/>
        </p:nvSpPr>
        <p:spPr>
          <a:xfrm>
            <a:off x="6918008" y="720602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85" name="Google Shape;185;p10"/>
          <p:cNvSpPr/>
          <p:nvPr/>
        </p:nvSpPr>
        <p:spPr>
          <a:xfrm>
            <a:off x="7978378" y="720602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186" name="Google Shape;186;p10"/>
          <p:cNvSpPr/>
          <p:nvPr/>
        </p:nvSpPr>
        <p:spPr>
          <a:xfrm>
            <a:off x="9038749" y="7206020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$50</a:t>
            </a:r>
            <a:endParaRPr b="0" i="0" sz="1000" u="none" cap="none" strike="noStrike"/>
          </a:p>
        </p:txBody>
      </p:sp>
      <p:sp>
        <p:nvSpPr>
          <p:cNvPr id="187" name="Google Shape;187;p10"/>
          <p:cNvSpPr/>
          <p:nvPr/>
        </p:nvSpPr>
        <p:spPr>
          <a:xfrm>
            <a:off x="10099119" y="7206020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88" name="Google Shape;188;p10"/>
          <p:cNvSpPr/>
          <p:nvPr/>
        </p:nvSpPr>
        <p:spPr>
          <a:xfrm>
            <a:off x="2676287" y="7496413"/>
            <a:ext cx="9277826" cy="37504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2805232" y="7581067"/>
            <a:ext cx="172747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Zing Health</a:t>
            </a:r>
            <a:endParaRPr b="0" i="0" sz="1000" u="none" cap="none" strike="noStrike"/>
          </a:p>
        </p:txBody>
      </p:sp>
      <p:sp>
        <p:nvSpPr>
          <p:cNvPr id="190" name="Google Shape;190;p10"/>
          <p:cNvSpPr/>
          <p:nvPr/>
        </p:nvSpPr>
        <p:spPr>
          <a:xfrm>
            <a:off x="4797266" y="758106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  <p:sp>
        <p:nvSpPr>
          <p:cNvPr id="191" name="Google Shape;191;p10"/>
          <p:cNvSpPr/>
          <p:nvPr/>
        </p:nvSpPr>
        <p:spPr>
          <a:xfrm>
            <a:off x="5857637" y="758106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92" name="Google Shape;192;p10"/>
          <p:cNvSpPr/>
          <p:nvPr/>
        </p:nvSpPr>
        <p:spPr>
          <a:xfrm>
            <a:off x="6918008" y="758106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93" name="Google Shape;193;p10"/>
          <p:cNvSpPr/>
          <p:nvPr/>
        </p:nvSpPr>
        <p:spPr>
          <a:xfrm>
            <a:off x="7978378" y="758106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$0</a:t>
            </a:r>
            <a:endParaRPr b="0" i="0" sz="1000" u="none" cap="none" strike="noStrike"/>
          </a:p>
        </p:txBody>
      </p:sp>
      <p:sp>
        <p:nvSpPr>
          <p:cNvPr id="194" name="Google Shape;194;p10"/>
          <p:cNvSpPr/>
          <p:nvPr/>
        </p:nvSpPr>
        <p:spPr>
          <a:xfrm>
            <a:off x="9038749" y="7581067"/>
            <a:ext cx="79581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$100</a:t>
            </a:r>
            <a:endParaRPr b="0" i="0" sz="1000" u="none" cap="none" strike="noStrike"/>
          </a:p>
        </p:txBody>
      </p:sp>
      <p:sp>
        <p:nvSpPr>
          <p:cNvPr id="195" name="Google Shape;195;p10"/>
          <p:cNvSpPr/>
          <p:nvPr/>
        </p:nvSpPr>
        <p:spPr>
          <a:xfrm>
            <a:off x="10099119" y="7581067"/>
            <a:ext cx="172652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YES</a:t>
            </a:r>
            <a:endParaRPr b="0" i="0" sz="10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832842" y="493157"/>
            <a:ext cx="2440781" cy="352187"/>
          </a:xfrm>
          <a:prstGeom prst="roundRect">
            <a:avLst>
              <a:gd fmla="val 17111" name="adj"/>
            </a:avLst>
          </a:prstGeom>
          <a:noFill/>
          <a:ln cap="flat" cmpd="sng" w="9525">
            <a:solidFill>
              <a:srgbClr val="4520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976" y="597456"/>
            <a:ext cx="143470" cy="14347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/>
          <p:nvPr/>
        </p:nvSpPr>
        <p:spPr>
          <a:xfrm>
            <a:off x="1163122" y="554474"/>
            <a:ext cx="1995368" cy="229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52068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452068"/>
                </a:solidFill>
                <a:latin typeface="Inter"/>
                <a:ea typeface="Inter"/>
                <a:cs typeface="Inter"/>
                <a:sym typeface="Inter"/>
              </a:rPr>
              <a:t>TECHNOLOGY INTEGRATION</a:t>
            </a:r>
            <a:endParaRPr b="0" i="0" sz="1100" u="none" cap="none" strike="noStrike"/>
          </a:p>
        </p:txBody>
      </p:sp>
      <p:sp>
        <p:nvSpPr>
          <p:cNvPr id="204" name="Google Shape;204;p11"/>
          <p:cNvSpPr/>
          <p:nvPr/>
        </p:nvSpPr>
        <p:spPr>
          <a:xfrm>
            <a:off x="832842" y="917019"/>
            <a:ext cx="6127671" cy="448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52068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452068"/>
                </a:solidFill>
                <a:latin typeface="Inter"/>
                <a:ea typeface="Inter"/>
                <a:cs typeface="Inter"/>
                <a:sym typeface="Inter"/>
              </a:rPr>
              <a:t>SunFire Platform Integration Status</a:t>
            </a:r>
            <a:endParaRPr b="0" i="0" sz="2800" u="none" cap="none" strike="noStrike"/>
          </a:p>
        </p:txBody>
      </p:sp>
      <p:sp>
        <p:nvSpPr>
          <p:cNvPr id="205" name="Google Shape;205;p11"/>
          <p:cNvSpPr/>
          <p:nvPr/>
        </p:nvSpPr>
        <p:spPr>
          <a:xfrm>
            <a:off x="832842" y="1634371"/>
            <a:ext cx="12964716" cy="57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SunFire integration dramatically reduces enrollment time and administrative errors. Carriers integrated with SunFire offer real-time verification, automated contracting workflows, and streamlined commission tracking. This technology advantage can significantly boost your productivity.</a:t>
            </a:r>
            <a:endParaRPr b="0" i="0" sz="1400" u="none" cap="none" strike="noStrike"/>
          </a:p>
        </p:txBody>
      </p:sp>
      <p:pic>
        <p:nvPicPr>
          <p:cNvPr descr="preencoded.png" id="206" name="Google Shape;20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842" y="2633782"/>
            <a:ext cx="179308" cy="17930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/>
          <p:nvPr/>
        </p:nvSpPr>
        <p:spPr>
          <a:xfrm>
            <a:off x="832842" y="2893219"/>
            <a:ext cx="3712250" cy="22860"/>
          </a:xfrm>
          <a:prstGeom prst="rect">
            <a:avLst/>
          </a:prstGeom>
          <a:solidFill>
            <a:srgbClr val="452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832842" y="3028593"/>
            <a:ext cx="3065621" cy="280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Fully Integrated (11 Carriers)</a:t>
            </a:r>
            <a:endParaRPr b="0" i="0" sz="1750" u="none" cap="none" strike="noStrike"/>
          </a:p>
        </p:txBody>
      </p:sp>
      <p:sp>
        <p:nvSpPr>
          <p:cNvPr id="209" name="Google Shape;209;p11"/>
          <p:cNvSpPr/>
          <p:nvPr/>
        </p:nvSpPr>
        <p:spPr>
          <a:xfrm>
            <a:off x="832842" y="3488055"/>
            <a:ext cx="3712250" cy="1147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Devoted, Elevance, Freedom, HealthSpring, both Humana divisions, Optimum, UnitedHealthcare, Wellcare, and Zing Health</a:t>
            </a:r>
            <a:endParaRPr b="0" i="0" sz="1400" u="none" cap="none" strike="noStrike"/>
          </a:p>
        </p:txBody>
      </p:sp>
      <p:pic>
        <p:nvPicPr>
          <p:cNvPr descr="preencoded.png" id="210" name="Google Shape;21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400" y="2633782"/>
            <a:ext cx="179308" cy="17930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4724400" y="2893219"/>
            <a:ext cx="3712250" cy="22860"/>
          </a:xfrm>
          <a:prstGeom prst="rect">
            <a:avLst/>
          </a:prstGeom>
          <a:solidFill>
            <a:srgbClr val="452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4724400" y="3028593"/>
            <a:ext cx="3113127" cy="280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Linked Integration (1 Carrier)</a:t>
            </a:r>
            <a:endParaRPr b="0" i="0" sz="1750" u="none" cap="none" strike="noStrike"/>
          </a:p>
        </p:txBody>
      </p:sp>
      <p:sp>
        <p:nvSpPr>
          <p:cNvPr id="213" name="Google Shape;213;p11"/>
          <p:cNvSpPr/>
          <p:nvPr/>
        </p:nvSpPr>
        <p:spPr>
          <a:xfrm>
            <a:off x="4724400" y="3488055"/>
            <a:ext cx="3712250" cy="57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Aetna connects through ThinkAgent portal for seamless enrollment processing</a:t>
            </a:r>
            <a:endParaRPr b="0" i="0" sz="1400" u="none" cap="none" strike="noStrike"/>
          </a:p>
        </p:txBody>
      </p:sp>
      <p:pic>
        <p:nvPicPr>
          <p:cNvPr descr="preencoded.png" id="214" name="Google Shape;21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842" y="4971455"/>
            <a:ext cx="179308" cy="17930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1"/>
          <p:cNvSpPr/>
          <p:nvPr/>
        </p:nvSpPr>
        <p:spPr>
          <a:xfrm>
            <a:off x="832842" y="5230892"/>
            <a:ext cx="7603808" cy="22860"/>
          </a:xfrm>
          <a:prstGeom prst="rect">
            <a:avLst/>
          </a:prstGeom>
          <a:solidFill>
            <a:srgbClr val="4520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832842" y="5366266"/>
            <a:ext cx="3065026" cy="280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Manual Process (4 Carriers)</a:t>
            </a:r>
            <a:endParaRPr b="0" i="0" sz="1750" u="none" cap="none" strike="noStrike"/>
          </a:p>
        </p:txBody>
      </p:sp>
      <p:sp>
        <p:nvSpPr>
          <p:cNvPr id="217" name="Google Shape;217;p11"/>
          <p:cNvSpPr/>
          <p:nvPr/>
        </p:nvSpPr>
        <p:spPr>
          <a:xfrm>
            <a:off x="832842" y="5825728"/>
            <a:ext cx="7603808" cy="573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Clover, Florida Blue, HCSC, and Molina require traditional paper or portal-based enrollment</a:t>
            </a:r>
            <a:endParaRPr b="0" i="0" sz="1400" u="none" cap="none" strike="noStrike"/>
          </a:p>
        </p:txBody>
      </p:sp>
      <p:pic>
        <p:nvPicPr>
          <p:cNvPr descr="preencoded.png" id="218" name="Google Shape;21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81705" y="2611398"/>
            <a:ext cx="4923353" cy="4923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>
            <a:off x="793790" y="2514124"/>
            <a:ext cx="4401860" cy="496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452068"/>
              </a:buClr>
              <a:buSzPts val="3100"/>
              <a:buFont typeface="Inter"/>
              <a:buNone/>
            </a:pPr>
            <a:r>
              <a:rPr b="1" i="0" lang="en-US" sz="3100" u="none" cap="none" strike="noStrike">
                <a:solidFill>
                  <a:srgbClr val="452068"/>
                </a:solidFill>
                <a:latin typeface="Inter"/>
                <a:ea typeface="Inter"/>
                <a:cs typeface="Inter"/>
                <a:sym typeface="Inter"/>
              </a:rPr>
              <a:t>Quick Action Checklist</a:t>
            </a:r>
            <a:endParaRPr b="0" i="0" sz="3100" u="none" cap="none" strike="noStrike"/>
          </a:p>
        </p:txBody>
      </p:sp>
      <p:sp>
        <p:nvSpPr>
          <p:cNvPr id="225" name="Google Shape;225;p12"/>
          <p:cNvSpPr/>
          <p:nvPr/>
        </p:nvSpPr>
        <p:spPr>
          <a:xfrm>
            <a:off x="793790" y="3407093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Use this guide to make informed decisions during the enrollment period. Keep this reference handy for quick commission lookups and carrier comparisons when working with clients.</a:t>
            </a:r>
            <a:endParaRPr b="0" i="0" sz="1550" u="none" cap="none" strike="noStrike"/>
          </a:p>
        </p:txBody>
      </p:sp>
      <p:sp>
        <p:nvSpPr>
          <p:cNvPr id="226" name="Google Shape;226;p12"/>
          <p:cNvSpPr/>
          <p:nvPr/>
        </p:nvSpPr>
        <p:spPr>
          <a:xfrm>
            <a:off x="793790" y="4265414"/>
            <a:ext cx="446484" cy="446484"/>
          </a:xfrm>
          <a:prstGeom prst="roundRect">
            <a:avLst>
              <a:gd fmla="val 18670" name="adj"/>
            </a:avLst>
          </a:prstGeom>
          <a:solidFill>
            <a:srgbClr val="E6D8F3"/>
          </a:solidFill>
          <a:ln cap="flat" cmpd="sng" w="9525">
            <a:solidFill>
              <a:srgbClr val="CCB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868204" y="4302621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300" u="none" cap="none" strike="noStrike"/>
          </a:p>
        </p:txBody>
      </p:sp>
      <p:sp>
        <p:nvSpPr>
          <p:cNvPr id="228" name="Google Shape;228;p12"/>
          <p:cNvSpPr/>
          <p:nvPr/>
        </p:nvSpPr>
        <p:spPr>
          <a:xfrm>
            <a:off x="1438632" y="4333637"/>
            <a:ext cx="405979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Verify Current Contracting Status</a:t>
            </a:r>
            <a:endParaRPr b="0" i="0" sz="1950" u="none" cap="none" strike="noStrike"/>
          </a:p>
        </p:txBody>
      </p:sp>
      <p:sp>
        <p:nvSpPr>
          <p:cNvPr id="229" name="Google Shape;229;p12"/>
          <p:cNvSpPr/>
          <p:nvPr/>
        </p:nvSpPr>
        <p:spPr>
          <a:xfrm>
            <a:off x="1438632" y="4762857"/>
            <a:ext cx="575250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Confirm you're appointed and certified with carriers you plan to write. When in doubt, contract broker support for each  carrier. Check SunFire access for integrated carriers.</a:t>
            </a:r>
            <a:endParaRPr b="0" i="0" sz="1550" u="none" cap="none" strike="noStrike"/>
          </a:p>
        </p:txBody>
      </p:sp>
      <p:sp>
        <p:nvSpPr>
          <p:cNvPr id="230" name="Google Shape;230;p12"/>
          <p:cNvSpPr/>
          <p:nvPr/>
        </p:nvSpPr>
        <p:spPr>
          <a:xfrm>
            <a:off x="7439144" y="4265414"/>
            <a:ext cx="446484" cy="446484"/>
          </a:xfrm>
          <a:prstGeom prst="roundRect">
            <a:avLst>
              <a:gd fmla="val 18670" name="adj"/>
            </a:avLst>
          </a:prstGeom>
          <a:solidFill>
            <a:srgbClr val="E6D8F3"/>
          </a:solidFill>
          <a:ln cap="flat" cmpd="sng" w="9525">
            <a:solidFill>
              <a:srgbClr val="CCB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7513558" y="4302621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300" u="none" cap="none" strike="noStrike"/>
          </a:p>
        </p:txBody>
      </p:sp>
      <p:sp>
        <p:nvSpPr>
          <p:cNvPr id="232" name="Google Shape;232;p12"/>
          <p:cNvSpPr/>
          <p:nvPr/>
        </p:nvSpPr>
        <p:spPr>
          <a:xfrm>
            <a:off x="8083987" y="4333637"/>
            <a:ext cx="3798689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Optimize Technology Workflow</a:t>
            </a:r>
            <a:endParaRPr b="0" i="0" sz="1950" u="none" cap="none" strike="noStrike"/>
          </a:p>
        </p:txBody>
      </p:sp>
      <p:sp>
        <p:nvSpPr>
          <p:cNvPr id="233" name="Google Shape;233;p12"/>
          <p:cNvSpPr/>
          <p:nvPr/>
        </p:nvSpPr>
        <p:spPr>
          <a:xfrm>
            <a:off x="8083987" y="4762857"/>
            <a:ext cx="5752624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C080F"/>
              </a:buClr>
              <a:buSzPts val="1550"/>
              <a:buFont typeface="Inter"/>
              <a:buNone/>
            </a:pPr>
            <a:r>
              <a:rPr b="0" i="0" lang="en-US" sz="1550" u="none" cap="none" strike="noStrike">
                <a:solidFill>
                  <a:srgbClr val="0C080F"/>
                </a:solidFill>
                <a:latin typeface="Inter"/>
                <a:ea typeface="Inter"/>
                <a:cs typeface="Inter"/>
                <a:sym typeface="Inter"/>
              </a:rPr>
              <a:t>Utilize SunFire integration for 11 participating carriers to maximize enrollments during peak AEP and OEP periods.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